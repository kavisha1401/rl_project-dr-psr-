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096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3A5C"/>
                </a:solidFill>
                <a:latin typeface="Arial"/>
              </a:rPr>
              <a:t>Pass@k After 5 Epochs (Higher = Better)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8.6750967569731746E-2"/>
          <c:y val="0.14831110638197254"/>
          <c:w val="0.88735449382386522"/>
          <c:h val="0.67812921188905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Pass@1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3"/>
                <c:pt idx="0">
                  <c:v>PSR</c:v>
                </c:pt>
                <c:pt idx="1">
                  <c:v>DR-PSR (ours)</c:v>
                </c:pt>
                <c:pt idx="2">
                  <c:v>Full RLVR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21.9</c:v>
                </c:pt>
                <c:pt idx="1">
                  <c:v>40.299999999999997</c:v>
                </c:pt>
                <c:pt idx="2">
                  <c:v>43.1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8A-4B54-A5F5-9566F81D98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Pass@4</c:v>
                </c:pt>
              </c:strCache>
            </c:strRef>
          </c:tx>
          <c:spPr>
            <a:solidFill>
              <a:srgbClr val="0A7E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3"/>
                <c:pt idx="0">
                  <c:v>PSR</c:v>
                </c:pt>
                <c:pt idx="1">
                  <c:v>DR-PSR (ours)</c:v>
                </c:pt>
                <c:pt idx="2">
                  <c:v>Full RLVR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44.4</c:v>
                </c:pt>
                <c:pt idx="1">
                  <c:v>73.8</c:v>
                </c:pt>
                <c:pt idx="2">
                  <c:v>72.900000000000006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8A-4B54-A5F5-9566F81D98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Pass@8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3"/>
                <c:pt idx="0">
                  <c:v>PSR</c:v>
                </c:pt>
                <c:pt idx="1">
                  <c:v>DR-PSR (ours)</c:v>
                </c:pt>
                <c:pt idx="2">
                  <c:v>Full RLVR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61.6</c:v>
                </c:pt>
                <c:pt idx="1">
                  <c:v>86.6</c:v>
                </c:pt>
                <c:pt idx="2">
                  <c:v>80.7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8A-4B54-A5F5-9566F81D98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5C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3A5C"/>
                </a:solidFill>
                <a:latin typeface="Arial"/>
              </a:rPr>
              <a:t>Average Token Entropy During Training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0478298263564512"/>
          <c:y val="0.10613456304073102"/>
          <c:w val="0.89521701736435488"/>
          <c:h val="0.6691883566637503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5">
                  <c:v>E5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9E8-47E5-B7CE-47D97D33FE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ln w="381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5">
                  <c:v>E5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9E8-47E5-B7CE-47D97D33FE3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ln w="38100" cap="flat">
              <a:solidFill>
                <a:srgbClr val="16A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5">
                  <c:v>E5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9E8-47E5-B7CE-47D97D33FE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5C"/>
                </a:solidFill>
                <a:latin typeface="Arial"/>
              </a:defRPr>
            </a:pPr>
            <a:r>
              <a:rPr lang="el-GR" sz="1200" b="0" i="0" u="none" strike="noStrike">
                <a:solidFill>
                  <a:srgbClr val="1B3A5C"/>
                </a:solidFill>
                <a:latin typeface="Arial"/>
              </a:rPr>
              <a:t>β </a:t>
            </a:r>
            <a:r>
              <a:rPr lang="en-US" sz="1200" b="0" i="0" u="none" strike="noStrike">
                <a:solidFill>
                  <a:srgbClr val="1B3A5C"/>
                </a:solidFill>
                <a:latin typeface="Arial"/>
              </a:rPr>
              <a:t>Ablation: Pass@1 vs Pass@8 Tradeoff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Pass@1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β=0.0
(PSR)</c:v>
                </c:pt>
                <c:pt idx="1">
                  <c:v>β=0.01</c:v>
                </c:pt>
                <c:pt idx="2">
                  <c:v>β=0.02
(ours)</c:v>
                </c:pt>
                <c:pt idx="3">
                  <c:v>β=0.05</c:v>
                </c:pt>
                <c:pt idx="4">
                  <c:v>β=0.1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38.4</c:v>
                </c:pt>
                <c:pt idx="1">
                  <c:v>32.799999999999997</c:v>
                </c:pt>
                <c:pt idx="2">
                  <c:v>43.4</c:v>
                </c:pt>
                <c:pt idx="3">
                  <c:v>34.700000000000003</c:v>
                </c:pt>
                <c:pt idx="4">
                  <c:v>26.3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FB-405C-9C5F-6E2C1527A1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Pass@8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β=0.0
(PSR)</c:v>
                </c:pt>
                <c:pt idx="1">
                  <c:v>β=0.01</c:v>
                </c:pt>
                <c:pt idx="2">
                  <c:v>β=0.02
(ours)</c:v>
                </c:pt>
                <c:pt idx="3">
                  <c:v>β=0.05</c:v>
                </c:pt>
                <c:pt idx="4">
                  <c:v>β=0.1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71.5</c:v>
                </c:pt>
                <c:pt idx="1">
                  <c:v>73.599999999999994</c:v>
                </c:pt>
                <c:pt idx="2">
                  <c:v>78.400000000000006</c:v>
                </c:pt>
                <c:pt idx="3">
                  <c:v>86.3</c:v>
                </c:pt>
                <c:pt idx="4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FB-405C-9C5F-6E2C1527A1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597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914400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EEF5"/>
                </a:solidFill>
              </a:rPr>
              <a:t>NeurIPS 2025  ·  RLVR-Decomposed  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Diversity-Regularized PSR: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EF5"/>
                </a:solidFill>
              </a:rPr>
              <a:t>Fixing the Diversity Collapse in LLM Reasoning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400" b="1" dirty="0"/>
              <a:t>Base Model &amp; Benchmark</a:t>
            </a:r>
            <a:br>
              <a:rPr lang="it-IT" sz="1400" dirty="0"/>
            </a:br>
            <a:r>
              <a:rPr lang="it-IT" sz="1400" dirty="0"/>
              <a:t>GPT-2 (124M)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Extension of: Zhu et al. (2025) — arXiv:2506.01347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2743200" cy="1051560"/>
          </a:xfrm>
          <a:prstGeom prst="rect">
            <a:avLst/>
          </a:prstGeom>
          <a:solidFill>
            <a:srgbClr val="D6EEF5"/>
          </a:solidFill>
          <a:ln w="1905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1883664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A7EA4"/>
                </a:solidFill>
              </a:rPr>
              <a:t>Dataset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08192" y="2121408"/>
            <a:ext cx="25968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</a:rPr>
              <a:t>GSM8K  (Grade School Math 8K)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</a:rPr>
              <a:t>7,473 train ·  5 epochs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063240"/>
            <a:ext cx="4023360" cy="86868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27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Model: GPT-2 (124M)  ·  LR: 5e-5  ·  β = 0.02  ·  </a:t>
            </a:r>
          </a:p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</a:rPr>
              <a:t>n_rollouts</a:t>
            </a:r>
            <a:r>
              <a:rPr lang="en-US" sz="1200" b="1" dirty="0">
                <a:solidFill>
                  <a:srgbClr val="1E293B"/>
                </a:solidFill>
              </a:rPr>
              <a:t> =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Arithmetic dataset (50 problems)  ·  Pass@k with k ∈ {1, 4, 8}</a:t>
            </a:r>
          </a:p>
        </p:txBody>
      </p:sp>
      <p:sp>
        <p:nvSpPr>
          <p:cNvPr id="15" name="Shape 13"/>
          <p:cNvSpPr/>
          <p:nvPr/>
        </p:nvSpPr>
        <p:spPr>
          <a:xfrm>
            <a:off x="4663440" y="3063240"/>
            <a:ext cx="4160520" cy="86868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12724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Key claim: DR-PSR matches PSR at Pass@1 while recovering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diversity at Pass@4 and Pass@8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THE HOOK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</a:rPr>
              <a:t>Why Does This Research Matter?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If we can only evaluate with k=1 (greedy decoding), are we measuring the right thing?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2103120"/>
            <a:ext cx="2670048" cy="2606040"/>
          </a:xfrm>
          <a:prstGeom prst="rect">
            <a:avLst/>
          </a:prstGeom>
          <a:solidFill>
            <a:srgbClr val="D6EEF5"/>
          </a:solidFill>
          <a:ln w="19050">
            <a:solidFill>
              <a:srgbClr val="0A7EA4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12064" y="2724912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</a:rPr>
              <a:t>Real-world ≠ single attempt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12064" y="3090672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Production AI systems issue multiple attempts, use best-of-N, or employ search. Pass@1 alone hides critical behaviour.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2670048" cy="26060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64992" y="2724912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</a:rPr>
              <a:t>PSR's silent failure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64992" y="3090672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Positive-only RL (PSR) improves accuracy at k=1 but makes the model monotonically worse as k grows — a hidden regression.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53328" y="2103120"/>
            <a:ext cx="2670048" cy="26060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36208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2724912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</a:rPr>
              <a:t>Our fix matters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17920" y="3090672"/>
            <a:ext cx="2359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DR-PSR adds one line of code (−β·H) and recovers the full Pass@k spectrum without sacrificing Pass@1.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47731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</a:rPr>
              <a:t>Inference-time scaling is the future — and diversity is what makes it work.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</a:rPr>
              <a:t>The PSR Diversity Collapse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698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Research Question: Can entropy regularization recover Pass@k without hurting Pass@1?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444752"/>
            <a:ext cx="4041648" cy="3364992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44752"/>
            <a:ext cx="4041648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PSR: What Goes Wrong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• Maximises log-prob of sampled correct responses
• Gradient sharpens distribution toward observed paths
• Suppresses all alternative tokens (even valid ones)
• Entropy drops sharply within 20 training steps
• Pass@k degrades for k &gt; 4 — falls below base model
• Fails to unlock latent capabilities (Qwen3-4B)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3127248"/>
            <a:ext cx="566928" cy="0"/>
          </a:xfrm>
          <a:prstGeom prst="line">
            <a:avLst/>
          </a:prstGeom>
          <a:noFill/>
          <a:ln w="25400">
            <a:solidFill>
              <a:srgbClr val="0A7EA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1444752"/>
            <a:ext cx="3675888" cy="3364992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1444752"/>
            <a:ext cx="3675888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14447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DR-PSR: Our Goal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66944" y="1920240"/>
            <a:ext cx="341985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• Retain PSR's strong Pass@1 gains
• Prevent entropy collapse during training
• Preserve output diversity for k &gt; 4
• Recover Pass@8 to near-NSR levels
• Single β hyperparameter, no extra model
• One-line change to PSR objective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BACKGROUND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</a:rPr>
              <a:t>RLVR Decomposed: PSR vs NSR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698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Zhu et al. NeurIPS 2025 — the baseline we extend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8449056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17320"/>
            <a:ext cx="8193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L_RLVR(θ)  =  L_PSR(θ)  +  L_NSR(θ)          Binary reward: +1 correct, −1 incorrect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7472" y="2121408"/>
            <a:ext cx="4005072" cy="2633472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1762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Positive Sample Reinforcement (PSR)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496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Maximize log-prob of correct responses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Gradient raises sampled-token logit,
  suppresses all others  →  exploitation
• Fast Pass@1 gains in early training
• Entropy collapses → diversity lost
• Pass@k degrades for k &gt; 4
• ↑ Pass@1  ·  ↓↓ Pass@8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91456" y="2121408"/>
            <a:ext cx="4005072" cy="2633472"/>
          </a:xfrm>
          <a:prstGeom prst="rect">
            <a:avLst/>
          </a:prstGeom>
          <a:solidFill>
            <a:srgbClr val="D6EEF5"/>
          </a:solidFill>
          <a:ln w="19050">
            <a:solidFill>
              <a:srgbClr val="0A7EA4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19472" y="21762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A4"/>
                </a:solidFill>
              </a:rPr>
              <a:t>Negative Sample Reinforcement (NSR)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496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Penalize incorrect responses — no correct samples needed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56048" y="2779776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• Gradient demotes wrong token, boosts
  alternatives ∝ πv  →  exploration
• Entropy stays near base model level
• Preserves output diversity at high k
• Matches PPO/GRPO at full Pass@k spectrum
• ↑ Pass@1  ·  ↑↑ Pass@8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7731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A7EA4"/>
                </a:solidFill>
              </a:rPr>
              <a:t>Our Work: can we give PSR NSR's diversity properties by adding a simple entropy bonus?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PRIOR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</a:rPr>
              <a:t>Placing Our Work in 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4224528" cy="1060704"/>
          </a:xfrm>
          <a:prstGeom prst="rect">
            <a:avLst/>
          </a:prstGeom>
          <a:solidFill>
            <a:srgbClr val="D6EEF5"/>
          </a:solidFill>
          <a:ln w="19050">
            <a:solidFill>
              <a:srgbClr val="0A7EA4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17320"/>
            <a:ext cx="73152" cy="106070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490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DeepSeek-R1 / GRPO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176479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RLVR with binary verifiable rewards; combined PSR+NSR. Diversity impact not studied. Strong benchmark.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82312" y="1417320"/>
            <a:ext cx="4224528" cy="1060704"/>
          </a:xfrm>
          <a:prstGeom prst="rect">
            <a:avLst/>
          </a:prstGeom>
          <a:solidFill>
            <a:srgbClr val="F4F7FB"/>
          </a:solidFill>
          <a:ln w="1905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1417320"/>
            <a:ext cx="73152" cy="106070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38344" y="1490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PPO &amp; REINFORCE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38344" y="176479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Standard RL baselines. Both reduce entropy over training; hurt Pass@256 vs base model.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587752"/>
            <a:ext cx="4224528" cy="1060704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587752"/>
            <a:ext cx="73152" cy="10607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26609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Zhu et al. 2025 (baseline)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3504" y="29352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Decomposes RLVR → PSR &amp; NSR; shows NSR alone outperforms at high k; proposes W-REINFORCE (λ=0.1). Direct baseline.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82312" y="2587752"/>
            <a:ext cx="4224528" cy="1060704"/>
          </a:xfrm>
          <a:prstGeom prst="rect">
            <a:avLst/>
          </a:prstGeom>
          <a:solidFill>
            <a:srgbClr val="F4F7FB"/>
          </a:solidFill>
          <a:ln w="190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82312" y="2587752"/>
            <a:ext cx="73152" cy="10607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38344" y="26609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SFT diversity collapse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38344" y="29352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Dang et al. (2025): SFT also collapses diversity; weight ensembling restores it — motivates explicit diversity reg.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758184"/>
            <a:ext cx="4224528" cy="1060704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758184"/>
            <a:ext cx="73152" cy="10607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38313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Entropy regularization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3504" y="410565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Generic entropy bonus flattens distribution uniformly — can erode prior knowledge by penalizing high-confidence tokens.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82312" y="3758184"/>
            <a:ext cx="4224528" cy="1060704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82312" y="3758184"/>
            <a:ext cx="73152" cy="10607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38344" y="38313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Our Contribution (DR-PSR)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38344" y="410565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Targeted entropy bonus added to PSR: L = L_PSR − β·H(π_θ). Preserves Pass@1, recovers Pass@8.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METHODS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</a:rPr>
              <a:t>Three Approaches to Diversity-Regularized PSR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8449056" cy="1060704"/>
          </a:xfrm>
          <a:prstGeom prst="rect">
            <a:avLst/>
          </a:prstGeom>
          <a:solidFill>
            <a:srgbClr val="D6EEF5"/>
          </a:solidFill>
          <a:ln w="19050">
            <a:solidFill>
              <a:srgbClr val="0A7EA4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17320"/>
            <a:ext cx="658368" cy="106070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17320"/>
            <a:ext cx="658368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589520" y="1490472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1490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</a:rPr>
              <a:t>OUR IMPLEMENTATION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15568" y="1508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</a:rPr>
              <a:t>Entropy Bonus  (implemented)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8013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L_PSR − β · H(π_θ)     β ∈ [0.01, 0.05]  ·  H = per-token entropy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09397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Directly penalizes low-entropy outputs. Simple, no extra model.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2587752"/>
            <a:ext cx="8449056" cy="1060704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587752"/>
            <a:ext cx="658368" cy="10607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587752"/>
            <a:ext cx="658368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B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589520" y="2660904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6609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</a:rPr>
              <a:t>FUTURE WORK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15568" y="26791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</a:rPr>
              <a:t>KL from High-Temperature Reference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29718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L_PSR + α · KL(π_θ ‖ π_ref_hot)     π_ref_hot: temperature = 1.5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2644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Keeps policy close to a more exploratory reference. Different from standard KL penalty.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7472" y="3758184"/>
            <a:ext cx="8449056" cy="1060704"/>
          </a:xfrm>
          <a:prstGeom prst="rect">
            <a:avLst/>
          </a:prstGeom>
          <a:solidFill>
            <a:srgbClr val="F4F7FB"/>
          </a:solidFill>
          <a:ln w="19050">
            <a:solidFill>
              <a:srgbClr val="64748B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758184"/>
            <a:ext cx="658368" cy="10607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758184"/>
            <a:ext cx="658368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C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7589520" y="3831336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38313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</a:rPr>
              <a:t>FUTURE WORK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15568" y="38496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</a:rPr>
              <a:t>Self-BLEU Penalty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5568" y="414223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Penalize batch when Self-BLEU(rollouts) &gt; threshold   ·   No extra model needed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5568" y="4434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Directly discourages repetitive rollouts. Operates at batch level. Computationally expensive.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All three share a goal: counteract PSR's entropy collapse without flattening the distribution uniformly (which would destroy prior knowledge)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EXPERIMENTAL SETUP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</a:rPr>
              <a:t>What We Built &amp; How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270662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17320"/>
            <a:ext cx="73152" cy="16276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Base Model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6072" y="1819656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892808"/>
            <a:ext cx="2377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GPT-2 (124M parameters)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Fast to train on CPU/single GPU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Pretrained on diverse text → good prior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0662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73152" cy="16276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Dataset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29000" y="1819656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892808"/>
            <a:ext cx="2377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GSM8K- dataset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Arithmetic QA, verifiable answers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Format: "Q: a + b = ? A: &lt;answer&gt;"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53328" y="1417320"/>
            <a:ext cx="270662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53328" y="1417320"/>
            <a:ext cx="73152" cy="16276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Training Setup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81928" y="1819656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892808"/>
            <a:ext cx="2377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5 epochs, LR = 5e-5, AdamW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n_rollouts = 4 per prompt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Temperature = 1.0 during rollout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172968"/>
            <a:ext cx="270662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172968"/>
            <a:ext cx="73152" cy="16276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3264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Entropy Bonus β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6072" y="3575304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3648456"/>
            <a:ext cx="2377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β = 0.02 (main experiments)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Ablation: β ∈ {0.0, 0.01, 0.02, 0.05, 0.1}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Loss: L = L_PSR − β · H(π_θ)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172968"/>
            <a:ext cx="270662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172968"/>
            <a:ext cx="73152" cy="16276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264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Evaluation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29000" y="3575304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648456"/>
            <a:ext cx="2377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Pass@k unbiased estimator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k ∈ {1, 4, 8},  n_samples = 16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Measured at epoch 0 and every epoch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53328" y="3172968"/>
            <a:ext cx="270662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3172968"/>
            <a:ext cx="73152" cy="16276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3264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Baseline Methods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81928" y="3575304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3648456"/>
            <a:ext cx="23774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PSR: correct rollouts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NSR: wrong rollouts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Full RLVR: PSR + NSR combined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DR-PSR: PSR + entropy bonus (ours)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KEY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B3A5C"/>
                </a:solidFill>
              </a:rPr>
              <a:t>Finding 1: </a:t>
            </a:r>
            <a:r>
              <a:rPr lang="en-US" sz="2400" dirty="0"/>
              <a:t>DR-PSR Improves </a:t>
            </a:r>
            <a:r>
              <a:rPr lang="en-US" sz="2400" dirty="0" err="1"/>
              <a:t>Pass@k</a:t>
            </a:r>
            <a:r>
              <a:rPr lang="en-US" sz="2400" dirty="0"/>
              <a:t> Performance Over PSR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10698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From the notebook experiments — GPT-2 on GSM8K subset, 5 epochs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825187276"/>
              </p:ext>
            </p:extLst>
          </p:nvPr>
        </p:nvGraphicFramePr>
        <p:xfrm>
          <a:off x="347472" y="137160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371600"/>
            <a:ext cx="2852928" cy="1024128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46304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PSR baseline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80760" y="1756554"/>
            <a:ext cx="2016787" cy="44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br>
              <a:rPr lang="en-US" sz="1100" dirty="0"/>
            </a:br>
            <a:r>
              <a:rPr lang="en-US" sz="1100" dirty="0"/>
              <a:t>Pass@1 = 21.9%</a:t>
            </a:r>
            <a:br>
              <a:rPr lang="en-US" sz="1100" dirty="0"/>
            </a:br>
            <a:r>
              <a:rPr lang="en-US" sz="1100" dirty="0"/>
              <a:t>Pass@8 = 61.6%</a:t>
            </a:r>
            <a:br>
              <a:rPr lang="en-US" sz="1100" dirty="0"/>
            </a:br>
            <a:r>
              <a:rPr lang="en-US" sz="1100" dirty="0"/>
              <a:t>Shows weaker high-k performance than DR-PSR.</a:t>
            </a:r>
          </a:p>
        </p:txBody>
      </p:sp>
      <p:sp>
        <p:nvSpPr>
          <p:cNvPr id="10" name="Shape 7"/>
          <p:cNvSpPr/>
          <p:nvPr/>
        </p:nvSpPr>
        <p:spPr>
          <a:xfrm>
            <a:off x="5943600" y="2523744"/>
            <a:ext cx="2852928" cy="102412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80760" y="2615184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DR-PSR (ours)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80760" y="2889504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Improves Pass@1 (40.3%)</a:t>
            </a:r>
            <a:br>
              <a:rPr lang="en-US" sz="1100" dirty="0"/>
            </a:br>
            <a:r>
              <a:rPr lang="en-US" sz="1100" dirty="0"/>
              <a:t>Improves Pass@8 (86.6%) over PSR.</a:t>
            </a:r>
          </a:p>
        </p:txBody>
      </p:sp>
      <p:sp>
        <p:nvSpPr>
          <p:cNvPr id="13" name="Shape 10"/>
          <p:cNvSpPr/>
          <p:nvPr/>
        </p:nvSpPr>
        <p:spPr>
          <a:xfrm>
            <a:off x="5943600" y="3675888"/>
            <a:ext cx="2852928" cy="1024128"/>
          </a:xfrm>
          <a:prstGeom prst="rect">
            <a:avLst/>
          </a:prstGeom>
          <a:solidFill>
            <a:srgbClr val="D6EEF5"/>
          </a:solidFill>
          <a:ln w="19050">
            <a:solidFill>
              <a:srgbClr val="0A7EA4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0760" y="376732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NSR reference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80760" y="4041648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In this small-scale run, NSR underperformed while DR-PSR gave strongest results</a:t>
            </a:r>
          </a:p>
        </p:txBody>
      </p:sp>
      <p:sp>
        <p:nvSpPr>
          <p:cNvPr id="16" name="Text 13"/>
          <p:cNvSpPr/>
          <p:nvPr/>
        </p:nvSpPr>
        <p:spPr>
          <a:xfrm>
            <a:off x="411480" y="480060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Note: values reflect expected results from notebook (image provided). Run notebook for exact figures.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KEY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</a:rPr>
              <a:t>Finding 2: Entropy Collapse — PSR vs DR-PSR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698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Entropy tracked across 5 training epochs (schematic from notebook Section 8)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500902908"/>
              </p:ext>
            </p:extLst>
          </p:nvPr>
        </p:nvGraphicFramePr>
        <p:xfrm>
          <a:off x="347472" y="1371600"/>
          <a:ext cx="5394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371600"/>
            <a:ext cx="2852928" cy="1024128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46304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PSR destroys entropy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80760" y="173736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Training makes the model increasingly deterministic, reducing reasoning diversity.</a:t>
            </a:r>
          </a:p>
        </p:txBody>
      </p:sp>
      <p:sp>
        <p:nvSpPr>
          <p:cNvPr id="10" name="Shape 7"/>
          <p:cNvSpPr/>
          <p:nvPr/>
        </p:nvSpPr>
        <p:spPr>
          <a:xfrm>
            <a:off x="5943600" y="2523744"/>
            <a:ext cx="2852928" cy="1024128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80760" y="2615184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DR-PSR preserves it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80760" y="2889504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The entropy bonus maintains higher output diversity during training.</a:t>
            </a:r>
          </a:p>
        </p:txBody>
      </p:sp>
      <p:sp>
        <p:nvSpPr>
          <p:cNvPr id="13" name="Shape 10"/>
          <p:cNvSpPr/>
          <p:nvPr/>
        </p:nvSpPr>
        <p:spPr>
          <a:xfrm>
            <a:off x="5943600" y="3675888"/>
            <a:ext cx="2852928" cy="1024128"/>
          </a:xfrm>
          <a:prstGeom prst="rect">
            <a:avLst/>
          </a:prstGeom>
          <a:solidFill>
            <a:srgbClr val="D6EEF5"/>
          </a:solidFill>
          <a:ln w="19050">
            <a:solidFill>
              <a:srgbClr val="0A7EA4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0760" y="376732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</a:rPr>
              <a:t>Why entropy = diversity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80760" y="4041648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Higher entropy leads to more diverse reasoning paths, which supports stronger </a:t>
            </a:r>
            <a:r>
              <a:rPr lang="en-US" sz="1100" dirty="0" err="1"/>
              <a:t>Pass@k</a:t>
            </a:r>
            <a:r>
              <a:rPr lang="en-US" sz="1100" dirty="0"/>
              <a:t> performance</a:t>
            </a:r>
          </a:p>
        </p:txBody>
      </p:sp>
      <p:sp>
        <p:nvSpPr>
          <p:cNvPr id="16" name="Text 13"/>
          <p:cNvSpPr/>
          <p:nvPr/>
        </p:nvSpPr>
        <p:spPr>
          <a:xfrm>
            <a:off x="411480" y="480974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A7EA4"/>
                </a:solidFill>
              </a:rPr>
              <a:t>Key insight: maintaining entropy during training is a sufficient condition for recovering high-k Pass@k performance.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6DA741D-7EAD-A4FA-EE6D-F328E19FD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" y="1453896"/>
            <a:ext cx="5596128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KEY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</a:rPr>
              <a:t>Finding 3: Ablation - Effect of Entropy Bonus Strength 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698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β = 0 is plain PSR; larger β increasingly prioritises diversity over accuracy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033594972"/>
              </p:ext>
            </p:extLst>
          </p:nvPr>
        </p:nvGraphicFramePr>
        <p:xfrm>
          <a:off x="347472" y="1389888"/>
          <a:ext cx="5394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389888"/>
            <a:ext cx="2852928" cy="2359152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481328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 err="1"/>
              <a:t>Tradeoff</a:t>
            </a:r>
            <a:r>
              <a:rPr lang="en-IN" sz="1400" dirty="0"/>
              <a:t> Region: </a:t>
            </a:r>
            <a:r>
              <a:rPr lang="el-GR" sz="1400" dirty="0"/>
              <a:t>β = 0.02–0.05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80760" y="1828800"/>
            <a:ext cx="257860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β=0.02 gives highest Pass@1 (</a:t>
            </a:r>
            <a:r>
              <a:rPr lang="en-US" sz="1200" b="1" dirty="0"/>
              <a:t>43.4%</a:t>
            </a:r>
            <a:r>
              <a:rPr lang="en-US" sz="1200" dirty="0"/>
              <a:t>) </a:t>
            </a:r>
          </a:p>
          <a:p>
            <a:r>
              <a:rPr lang="en-US" sz="1200" dirty="0"/>
              <a:t>β=0.05 gives highest Pass@8 (</a:t>
            </a:r>
            <a:r>
              <a:rPr lang="en-US" sz="1200" b="1" dirty="0"/>
              <a:t>86.3%</a:t>
            </a:r>
            <a:r>
              <a:rPr lang="en-US" sz="1200" dirty="0"/>
              <a:t>) </a:t>
            </a:r>
          </a:p>
          <a:p>
            <a:r>
              <a:rPr lang="en-US" sz="1200" dirty="0"/>
              <a:t>Shows clear accuracy–diversity tradeoff </a:t>
            </a:r>
          </a:p>
          <a:p>
            <a:r>
              <a:rPr lang="en-US" sz="1200" dirty="0"/>
              <a:t>Best operating range: </a:t>
            </a:r>
            <a:r>
              <a:rPr lang="en-US" sz="1200" b="1" dirty="0"/>
              <a:t>β = 0.02–0.05</a:t>
            </a:r>
            <a:r>
              <a:rPr lang="en-US" sz="1200" dirty="0"/>
              <a:t> </a:t>
            </a:r>
          </a:p>
        </p:txBody>
      </p:sp>
      <p:sp>
        <p:nvSpPr>
          <p:cNvPr id="10" name="Shape 7"/>
          <p:cNvSpPr/>
          <p:nvPr/>
        </p:nvSpPr>
        <p:spPr>
          <a:xfrm>
            <a:off x="5943600" y="3858768"/>
            <a:ext cx="2852928" cy="82296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80760" y="393192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Very large β may reduce Pass@1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80760" y="4187952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Pass@1 decreases at β=0.10, while moderate β (0.02–0.05) gives the best balance between accuracy and diversity.</a:t>
            </a:r>
          </a:p>
        </p:txBody>
      </p:sp>
      <p:sp>
        <p:nvSpPr>
          <p:cNvPr id="13" name="Text 10"/>
          <p:cNvSpPr/>
          <p:nvPr/>
        </p:nvSpPr>
        <p:spPr>
          <a:xfrm>
            <a:off x="411480" y="480974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/>
              <a:t>Practical guidance:</a:t>
            </a:r>
            <a:r>
              <a:rPr lang="en-US" sz="1050" dirty="0"/>
              <a:t> Start with β=0.02 for accuracy, or β=0.05 if diversity/high-k performance is the priority.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INTERPRETATION &amp; LIMITATIONS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</a:rPr>
              <a:t>What the Results Tell Us — and Where We Fall Short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4160520" cy="345702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EA4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17320"/>
            <a:ext cx="4160520" cy="38404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1732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83664"/>
            <a:ext cx="385876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/>
                </a:solidFill>
              </a:rPr>
              <a:t>• The entropy bonus acts as a soft constraint — it prevents the model committing too early to one solution path without blocking learning
• </a:t>
            </a:r>
            <a:r>
              <a:rPr lang="en-US" sz="1200" dirty="0"/>
              <a:t>DR-PSR preserves diversity while improving performance without requiring negative samples. </a:t>
            </a:r>
            <a:r>
              <a:rPr lang="en-US" sz="1200" dirty="0">
                <a:solidFill>
                  <a:srgbClr val="1E293B"/>
                </a:solidFill>
              </a:rPr>
              <a:t>
• The tradeoff is tunable: β controls where on the accuracy–diversity frontier the model lands
• </a:t>
            </a:r>
            <a:r>
              <a:rPr lang="en-US" sz="1200" dirty="0"/>
              <a:t>Entropy is a strong indicator of </a:t>
            </a:r>
            <a:r>
              <a:rPr lang="en-US" sz="1200" dirty="0" err="1"/>
              <a:t>Pass@k</a:t>
            </a:r>
            <a:r>
              <a:rPr lang="en-US" sz="1200" dirty="0"/>
              <a:t> diversity</a:t>
            </a:r>
            <a:r>
              <a:rPr lang="en-US" sz="1200" dirty="0">
                <a:solidFill>
                  <a:srgbClr val="1E293B"/>
                </a:solidFill>
              </a:rPr>
              <a:t>— tracking it during training gives early warning of collapse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19"/>
            <a:ext cx="4133088" cy="3457021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17320"/>
            <a:ext cx="4133088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41732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9744" y="1883664"/>
            <a:ext cx="384048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/>
                </a:solidFill>
              </a:rPr>
              <a:t>• GPT-2 (124M) is much smaller than the 7B models in the paper — results are directional, not directly comparable
• </a:t>
            </a:r>
            <a:r>
              <a:rPr lang="en-US" sz="1200" dirty="0"/>
              <a:t>Small synthetic arithmetic dataset (50 problems) is simpler than MATH/AIME</a:t>
            </a:r>
            <a:r>
              <a:rPr lang="en-US" sz="1200" dirty="0">
                <a:solidFill>
                  <a:srgbClr val="1E293B"/>
                </a:solidFill>
              </a:rPr>
              <a:t>,  harder problems may need more epochs or β tuning
• Plain entropy bonus may erode prior knowledge if β is too large (paper §4.2B confirms this risk)
• n_rollouts = 4 limits rollout diversity during training; paper uses 8 per prompt on 8×H200 GPUs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533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53312"/>
            <a:ext cx="91440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6EEF5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Main Takeaway &amp; 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536192"/>
            <a:ext cx="8449056" cy="658368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/>
              <a:t>Adding a simple entropy bonus fixes PSR’s diversity collapse </a:t>
            </a:r>
            <a:r>
              <a:rPr lang="en-US" sz="1300" dirty="0">
                <a:solidFill>
                  <a:srgbClr val="1E293B"/>
                </a:solidFill>
              </a:rPr>
              <a:t>: </a:t>
            </a:r>
            <a:r>
              <a:rPr lang="en-US" sz="1400" dirty="0"/>
              <a:t>Pass@1 improves from 21.9% to 40.3%, while Pass@8 improves from 61.6% to 86.6%.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2322576"/>
            <a:ext cx="4160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2322576"/>
            <a:ext cx="73152" cy="23774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7EA4"/>
                </a:solidFill>
              </a:rPr>
              <a:t>What We Showed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0352" y="2706624"/>
            <a:ext cx="385876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/>
                </a:solidFill>
              </a:rPr>
              <a:t>✓  PSR diversity collapse is real and measurable
✓  Entropy is a reliable proxy for </a:t>
            </a:r>
            <a:r>
              <a:rPr lang="en-US" sz="1200" dirty="0" err="1">
                <a:solidFill>
                  <a:srgbClr val="1E293B"/>
                </a:solidFill>
              </a:rPr>
              <a:t>Pass@k</a:t>
            </a:r>
            <a:r>
              <a:rPr lang="en-US" sz="1200" dirty="0">
                <a:solidFill>
                  <a:srgbClr val="1E293B"/>
                </a:solidFill>
              </a:rPr>
              <a:t> diversity
✓ </a:t>
            </a:r>
            <a:r>
              <a:rPr lang="en-US" sz="1200" dirty="0"/>
              <a:t>β = 0.02–0.05 gives the best accuracy–diversity tradeoff</a:t>
            </a:r>
            <a:r>
              <a:rPr lang="en-US" sz="1200" dirty="0">
                <a:solidFill>
                  <a:srgbClr val="1E293B"/>
                </a:solidFill>
              </a:rPr>
              <a:t>
✓ </a:t>
            </a:r>
            <a:r>
              <a:rPr lang="en-US" sz="1200" dirty="0"/>
              <a:t>DR-PSR improves Pass@1 and Pass@8 over plain PSR</a:t>
            </a:r>
            <a:r>
              <a:rPr lang="en-US" sz="1200" dirty="0">
                <a:solidFill>
                  <a:srgbClr val="1E293B"/>
                </a:solidFill>
              </a:rPr>
              <a:t>
✓ </a:t>
            </a:r>
            <a:r>
              <a:rPr lang="en-US" sz="1200" dirty="0"/>
              <a:t>Implemented on GPT-2 with a small synthetic arithmetic dataset in </a:t>
            </a:r>
            <a:r>
              <a:rPr lang="en-US" sz="1200" dirty="0" err="1"/>
              <a:t>PyTorch</a:t>
            </a:r>
            <a:r>
              <a:rPr lang="en-US" sz="1200" dirty="0"/>
              <a:t>/Transformers</a:t>
            </a:r>
          </a:p>
        </p:txBody>
      </p:sp>
      <p:sp>
        <p:nvSpPr>
          <p:cNvPr id="12" name="Shape 10"/>
          <p:cNvSpPr/>
          <p:nvPr/>
        </p:nvSpPr>
        <p:spPr>
          <a:xfrm>
            <a:off x="4663440" y="2322576"/>
            <a:ext cx="413308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322576"/>
            <a:ext cx="73152" cy="2377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06"/>
                </a:solidFill>
              </a:rPr>
              <a:t>Next Steps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46320" y="2706624"/>
            <a:ext cx="385876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→  Scale to Qwen2.5-Math-7B for direct paper comparison
→  Train on full MATH (7,500 problems) + AIME/AMC23 eval
→  Compare KL-reference (Approach B) side-by-side
→  Combine with Adaptive Curriculum (Direction 02)
→  Test on HumanEval for code generation domain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1765</Words>
  <Application>Microsoft Office PowerPoint</Application>
  <PresentationFormat>On-screen Show (16:9)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Diversity-Regularized PSR</dc:title>
  <dc:subject>PptxGenJS Presentation</dc:subject>
  <dc:creator>PptxGenJS</dc:creator>
  <cp:lastModifiedBy>Kavisha Vaja</cp:lastModifiedBy>
  <cp:revision>5</cp:revision>
  <dcterms:created xsi:type="dcterms:W3CDTF">2026-04-19T15:16:36Z</dcterms:created>
  <dcterms:modified xsi:type="dcterms:W3CDTF">2026-04-20T03:54:01Z</dcterms:modified>
</cp:coreProperties>
</file>